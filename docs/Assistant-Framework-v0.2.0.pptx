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0D4AA"/>
                </a:solidFill>
                <a:latin typeface="Calibri"/>
              </a:defRPr>
            </a:pPr>
            <a:r>
              <a:t>ASSISTANT FRAMEWORK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468880"/>
            <a:ext cx="36576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FFFFFF"/>
                </a:solidFill>
                <a:latin typeface="Calibri"/>
              </a:defRPr>
            </a:pPr>
            <a:r>
              <a:t>Your AI Becomes a Senior Developer</a:t>
            </a:r>
            <a:br/>
            <a:r>
              <a:t>That Never Forgets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99999"/>
                </a:solidFill>
                <a:latin typeface="Calibri"/>
              </a:defRPr>
            </a:pPr>
            <a:r>
              <a:t>v0.2.0  |  11 Skills  |  13 MCP Tools  |  Self-Improving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alibri"/>
              </a:defRPr>
            </a:pPr>
            <a:r>
              <a:t>Claude Code  ·  OpenAI Codex  ·  Google Gemini CLI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Every AI coding session starts from zero.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103120"/>
            <a:ext cx="27432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560320"/>
            <a:ext cx="9144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CCCCCC"/>
                </a:solidFill>
                <a:latin typeface="Calibri"/>
              </a:defRPr>
            </a:pPr>
            <a:r>
              <a:t>No memory of past decisions or what worked before</a:t>
            </a:r>
          </a:p>
          <a:p>
            <a:pPr>
              <a:spcAft>
                <a:spcPts val="1400"/>
              </a:spcAft>
              <a:defRPr sz="2000">
                <a:solidFill>
                  <a:srgbClr val="CCCCCC"/>
                </a:solidFill>
                <a:latin typeface="Calibri"/>
              </a:defRPr>
            </a:pPr>
            <a:r>
              <a:t>Repeats the same mistakes across sessions</a:t>
            </a:r>
          </a:p>
          <a:p>
            <a:pPr>
              <a:spcAft>
                <a:spcPts val="1400"/>
              </a:spcAft>
              <a:defRPr sz="2000">
                <a:solidFill>
                  <a:srgbClr val="CCCCCC"/>
                </a:solidFill>
                <a:latin typeface="Calibri"/>
              </a:defRPr>
            </a:pPr>
            <a:r>
              <a:t>Doesn't know your preferences or coding style</a:t>
            </a:r>
          </a:p>
          <a:p>
            <a:pPr>
              <a:spcAft>
                <a:spcPts val="1400"/>
              </a:spcAft>
              <a:defRPr sz="2000">
                <a:solidFill>
                  <a:srgbClr val="CCCCCC"/>
                </a:solidFill>
                <a:latin typeface="Calibri"/>
              </a:defRPr>
            </a:pPr>
            <a:r>
              <a:t>No structured workflow — just vibes and hope</a:t>
            </a:r>
          </a:p>
          <a:p>
            <a:pPr>
              <a:spcAft>
                <a:spcPts val="1400"/>
              </a:spcAft>
              <a:defRPr sz="2000">
                <a:solidFill>
                  <a:srgbClr val="CCCCCC"/>
                </a:solidFill>
                <a:latin typeface="Calibri"/>
              </a:defRPr>
            </a:pPr>
            <a:r>
              <a:t>Can't cover your weaknesses (docs, diagrams, onboarding)</a:t>
            </a:r>
          </a:p>
          <a:p>
            <a:pPr>
              <a:spcAft>
                <a:spcPts val="1400"/>
              </a:spcAft>
              <a:defRPr sz="2000">
                <a:solidFill>
                  <a:srgbClr val="CCCCCC"/>
                </a:solidFill>
                <a:latin typeface="Calibri"/>
              </a:defRPr>
            </a:pPr>
            <a:r>
              <a:t>No quality gates — ships whatever comes out first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5486400"/>
            <a:ext cx="10332720" cy="731520"/>
          </a:xfrm>
          <a:prstGeom prst="roundRect">
            <a:avLst/>
          </a:prstGeom>
          <a:solidFill>
            <a:srgbClr val="3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5577840"/>
            <a:ext cx="9784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4545"/>
                </a:solidFill>
                <a:latin typeface="Calibri"/>
              </a:defRPr>
            </a:pPr>
            <a:r>
              <a:t>You are the memory. You are the process. You are the quality gate.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Calibri"/>
              </a:defRPr>
            </a:pPr>
            <a: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One framework. Self-improving. Cross-platform.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011680"/>
            <a:ext cx="27432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2560320"/>
            <a:ext cx="2560320" cy="164592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  <a:latin typeface="Calibri"/>
              </a:defRPr>
            </a:pPr>
            <a:r>
              <a:t>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Structured dev</a:t>
            </a:r>
            <a:br/>
            <a:r>
              <a:t>pipeline with</a:t>
            </a:r>
            <a:br/>
            <a:r>
              <a:t>approval gates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2560320"/>
            <a:ext cx="2560320" cy="164592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0" y="26517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  <a:latin typeface="Calibri"/>
              </a:defRPr>
            </a:pPr>
            <a:r>
              <a:t>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40" y="301752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Autonomous loop</a:t>
            </a:r>
            <a:br/>
            <a:r>
              <a:t>max 5 rounds</a:t>
            </a:r>
            <a:br/>
            <a:r>
              <a:t>fresh reviewer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560320"/>
            <a:ext cx="2560320" cy="164592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6517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  <a:latin typeface="Calibri"/>
              </a:defRPr>
            </a:pPr>
            <a:r>
              <a:t>Security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01752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STRIDE + OWASP</a:t>
            </a:r>
            <a:br/>
            <a:r>
              <a:t>CVE audit</a:t>
            </a:r>
            <a:br/>
            <a:r>
              <a:t>attack surface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2560320"/>
            <a:ext cx="2560320" cy="164592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0" y="26517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  <a:latin typeface="Calibri"/>
              </a:defRPr>
            </a:pPr>
            <a:r>
              <a:t>TDD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0" y="301752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Red-Green-Refactor</a:t>
            </a:r>
            <a:br/>
            <a:r>
              <a:t>strict gates</a:t>
            </a:r>
            <a:br/>
            <a:r>
              <a:t>no code before test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480560"/>
            <a:ext cx="2560320" cy="164592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720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  <a:latin typeface="Calibri"/>
              </a:defRPr>
            </a:pPr>
            <a:r>
              <a:t>Docs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93776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6 modes: API, arch</a:t>
            </a:r>
            <a:br/>
            <a:r>
              <a:t>README, changelog</a:t>
            </a:r>
            <a:br/>
            <a:r>
              <a:t>migration, explain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66160" y="4480560"/>
            <a:ext cx="2560320" cy="164592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49040" y="45720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  <a:latin typeface="Calibri"/>
              </a:defRPr>
            </a:pPr>
            <a:r>
              <a:t>Onboard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40" y="493776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6-phase codebase</a:t>
            </a:r>
            <a:br/>
            <a:r>
              <a:t>learning protocol</a:t>
            </a:r>
            <a:br/>
            <a:r>
              <a:t>auto-generates memory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4480560"/>
            <a:ext cx="2560320" cy="164592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45720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  <a:latin typeface="Calibri"/>
              </a:defRPr>
            </a:pPr>
            <a:r>
              <a:t>Ideate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493776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Diverge-converge</a:t>
            </a:r>
            <a:br/>
            <a:r>
              <a:t>refine pipeline</a:t>
            </a:r>
            <a:br/>
            <a:r>
              <a:t>scored ranking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35440" y="4480560"/>
            <a:ext cx="2560320" cy="164592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45720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  <a:latin typeface="Calibri"/>
              </a:defRPr>
            </a:pPr>
            <a:r>
              <a:t>Reflexion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493776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Self-improving</a:t>
            </a:r>
            <a:br/>
            <a:r>
              <a:t>lesson recall</a:t>
            </a:r>
            <a:br/>
            <a:r>
              <a:t>strategy profiles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Calibri"/>
              </a:defRPr>
            </a:pPr>
            <a:r>
              <a:t>STRUCTURED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Right-sized ceremony. Invisible when working.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737360"/>
            <a:ext cx="27432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2286000"/>
            <a:ext cx="1737360" cy="64008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33172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TRIAGE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2331720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4AA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77440" y="2286000"/>
            <a:ext cx="1737360" cy="64008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77440" y="233172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DISCOVER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331720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4AA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2286000"/>
            <a:ext cx="1737360" cy="64008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233172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2331720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4AA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286000"/>
            <a:ext cx="1737360" cy="64008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3172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BUILD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0" y="2331720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4AA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2286000"/>
            <a:ext cx="1737360" cy="64008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0" y="233172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0" y="2331720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4AA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58400" y="2286000"/>
            <a:ext cx="1737360" cy="64008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0" y="233172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DOCUMENT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291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  <a:latin typeface="Calibri"/>
              </a:defRPr>
            </a:pPr>
            <a:r>
              <a:t>Adapts to task size: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3749039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Calibri"/>
              </a:defRPr>
            </a:pPr>
            <a:r>
              <a:t>Small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68880" y="3749039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bugfix, typo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3749039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Writer → Tester → Reviewer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4251959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68880" y="4251959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feature, refactor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4251959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Mapper → Writer → Tester → Reviewer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4754879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Calibri"/>
              </a:defRPr>
            </a:pPr>
            <a:r>
              <a:t>Large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68880" y="4754879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new project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4754879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Mapper → Explorer → Architect → Writer → Tester → Reviewer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52578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Calibri"/>
              </a:defRPr>
            </a:pPr>
            <a:r>
              <a:t>Mega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68880" y="52578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rewrite, 10+ files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525780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Full pipeline + parallel sub-tasks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" y="5760720"/>
            <a:ext cx="10332720" cy="640080"/>
          </a:xfrm>
          <a:prstGeom prst="roundRect">
            <a:avLst/>
          </a:prstGeom>
          <a:solidFill>
            <a:srgbClr val="1A2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88720" y="5806440"/>
            <a:ext cx="9784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76"/>
                </a:solidFill>
                <a:latin typeface="Calibri"/>
              </a:defRPr>
            </a:pPr>
            <a:r>
              <a:t>Key principle: if the user notices the framework, it's too heavy.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Calibri"/>
              </a:defRPr>
            </a:pPr>
            <a:r>
              <a:t>AUTONOMOUS CODE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Not one pass. An autonomous fix-and-review loop.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737360"/>
            <a:ext cx="27432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2194560"/>
            <a:ext cx="10332720" cy="91440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24027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  <a:latin typeface="Calibri"/>
              </a:defRPr>
            </a:pPr>
            <a:r>
              <a:t>Round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224027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80%+ confidence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6517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Fresh Reviewer finds 4 issues → Fix all → Tests pass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291839"/>
            <a:ext cx="10332720" cy="91440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333755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  <a:latin typeface="Calibri"/>
              </a:defRPr>
            </a:pPr>
            <a:r>
              <a:t>Round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333755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85%+ confidence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749039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NEW Reviewer finds 1 more → Fix → Tests pass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389120"/>
            <a:ext cx="10332720" cy="91440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44348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76"/>
                </a:solidFill>
                <a:latin typeface="Calibri"/>
              </a:defRPr>
            </a:pPr>
            <a:r>
              <a:t>Round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4434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90%+ confidence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8463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NEW Reviewer → Clean. No findings above nit.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6692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999999"/>
                </a:solidFill>
                <a:latin typeface="Calibri"/>
              </a:defRPr>
            </a:pPr>
            <a:r>
              <a:t>Fresh reviewer each round — stale context weakens reviews</a:t>
            </a:r>
          </a:p>
          <a:p>
            <a:pPr>
              <a:spcAft>
                <a:spcPts val="400"/>
              </a:spcAft>
              <a:defRPr sz="1400">
                <a:solidFill>
                  <a:srgbClr val="999999"/>
                </a:solidFill>
                <a:latin typeface="Calibri"/>
              </a:defRPr>
            </a:pPr>
            <a:r>
              <a:t>Previously-fixed list prevents re-reporting same issues</a:t>
            </a:r>
          </a:p>
          <a:p>
            <a:pPr>
              <a:spcAft>
                <a:spcPts val="400"/>
              </a:spcAft>
              <a:defRPr sz="1400">
                <a:solidFill>
                  <a:srgbClr val="999999"/>
                </a:solidFill>
                <a:latin typeface="Calibri"/>
              </a:defRPr>
            </a:pPr>
            <a:r>
              <a:t>Stop hook structurally prevents finishing without review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Calibri"/>
              </a:defRPr>
            </a:pPr>
            <a:r>
              <a:t>DOCUMENTATION &amp; DIAGRAMS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Cover your biggest weakness automatically.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737360"/>
            <a:ext cx="27432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AA"/>
                </a:solidFill>
                <a:latin typeface="Calibri"/>
              </a:defRPr>
            </a:pPr>
            <a:r>
              <a:t>Documentation Generator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API Docs — scans endpoints, generates reference</a:t>
            </a:r>
          </a:p>
          <a:p>
            <a:pPr>
              <a:spcAft>
                <a:spcPts val="10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Architecture — system overview with diagrams</a:t>
            </a:r>
          </a:p>
          <a:p>
            <a:pPr>
              <a:spcAft>
                <a:spcPts val="10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README — from code analysis, not memory</a:t>
            </a:r>
          </a:p>
          <a:p>
            <a:pPr>
              <a:spcAft>
                <a:spcPts val="10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Changelog — from git history, categorized</a:t>
            </a:r>
          </a:p>
          <a:p>
            <a:pPr>
              <a:spcAft>
                <a:spcPts val="10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Migration Guide — breaking changes + steps</a:t>
            </a:r>
          </a:p>
          <a:p>
            <a:pPr>
              <a:spcAft>
                <a:spcPts val="10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Code Explainer — the 'why', not the 'what'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1945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AA"/>
                </a:solidFill>
                <a:latin typeface="Calibri"/>
              </a:defRPr>
            </a:pPr>
            <a:r>
              <a:t>Diagram Generator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7432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Architecture — component relationships</a:t>
            </a:r>
          </a:p>
          <a:p>
            <a:pPr>
              <a:spcAft>
                <a:spcPts val="10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Sequence — request flows, interactions</a:t>
            </a:r>
          </a:p>
          <a:p>
            <a:pPr>
              <a:spcAft>
                <a:spcPts val="10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Entity-Relationship — data models</a:t>
            </a:r>
          </a:p>
          <a:p>
            <a:pPr>
              <a:spcAft>
                <a:spcPts val="10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Flow — decision trees, algorithms</a:t>
            </a:r>
          </a:p>
          <a:p>
            <a:pPr>
              <a:spcAft>
                <a:spcPts val="10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Component — module dependencies</a:t>
            </a:r>
          </a:p>
          <a:p>
            <a:pPr>
              <a:spcAft>
                <a:spcPts val="10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Class — type hierarchies</a:t>
            </a:r>
          </a:p>
          <a:p>
            <a:pPr>
              <a:spcAft>
                <a:spcPts val="10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State — lifecycle transitions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5303520"/>
            <a:ext cx="10332720" cy="1097280"/>
          </a:xfrm>
          <a:prstGeom prst="roundRect">
            <a:avLst/>
          </a:prstGeom>
          <a:solidFill>
            <a:srgbClr val="1A1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5394960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4AA"/>
                </a:solidFill>
                <a:latin typeface="Calibri"/>
              </a:defRPr>
            </a:pPr>
            <a:r>
              <a:t>Also detects stale docs: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5760720"/>
            <a:ext cx="9784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"README.md: last updated 45 days ago, 3 new features since"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Calibri"/>
              </a:defRPr>
            </a:pPr>
            <a:r>
              <a:t>THE BREAKTHROUGH: REFLEXION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Every task makes the next task better.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737360"/>
            <a:ext cx="27432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2194560"/>
            <a:ext cx="10332720" cy="109728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24027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8C00"/>
                </a:solidFill>
                <a:latin typeface="Calibri"/>
              </a:defRPr>
            </a:pPr>
            <a:r>
              <a:t>Session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224027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Fix API bug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56032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Reflexion: "Wasted 5 min — forgot to check DI registration"</a:t>
            </a:r>
            <a:br/>
            <a:r>
              <a:t>Lesson stored with confidence 0.5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429000"/>
            <a:ext cx="10332720" cy="109728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3474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D4AA"/>
                </a:solidFill>
                <a:latin typeface="Calibri"/>
              </a:defRPr>
            </a:pPr>
            <a:r>
              <a:t>Session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3474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Another API bug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79476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Discover phase: "Found 2 relevant lessons"</a:t>
            </a:r>
            <a:br/>
            <a:r>
              <a:t>Applies lesson automatically → faster fix</a:t>
            </a:r>
            <a:br/>
            <a:r>
              <a:t>Lesson reinforced → confidence 0.7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663440"/>
            <a:ext cx="10332720" cy="109728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470915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E676"/>
                </a:solidFill>
                <a:latin typeface="Calibri"/>
              </a:defRPr>
            </a:pPr>
            <a:r>
              <a:t>Session 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470915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API refactor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502920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12 accumulated lessons across all phases</a:t>
            </a:r>
            <a:br/>
            <a:r>
              <a:t>"You underestimate refactors by 1 size" → auto-adjusts</a:t>
            </a:r>
            <a:br/>
            <a:r>
              <a:t>Strategy profile guides the entire approach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61264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99"/>
                </a:solidFill>
                <a:latin typeface="Calibri"/>
              </a:defRPr>
            </a:pPr>
            <a:r>
              <a:t>Confidence scoring · Time decay · Automatic consolidation · Per-project-type strategies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Calibri"/>
              </a:defRPr>
            </a:pPr>
            <a:r>
              <a:t>MEMORY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Not just files. A queryable knowledge system.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737360"/>
            <a:ext cx="27432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5029200" cy="411480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D4AA"/>
                </a:solidFill>
                <a:latin typeface="Calibri"/>
              </a:defRPr>
            </a:pPr>
            <a:r>
              <a:t>Knowledge Graph (JSONL)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74320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Entities: Projects, Technologies, Patterns</a:t>
            </a:r>
          </a:p>
          <a:p>
            <a:pPr>
              <a:spcAft>
                <a:spcPts val="10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Relations: DependsOn, Uses, Follows</a:t>
            </a:r>
          </a:p>
          <a:p>
            <a:pPr>
              <a:spcAft>
                <a:spcPts val="10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Insights linked to projects</a:t>
            </a:r>
          </a:p>
          <a:p>
            <a:pPr>
              <a:spcAft>
                <a:spcPts val="10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Conventions per codebase</a:t>
            </a:r>
          </a:p>
          <a:p>
            <a:pPr>
              <a:spcAft>
                <a:spcPts val="10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Preferences (global + scoped)</a:t>
            </a:r>
          </a:p>
          <a:p>
            <a:pPr>
              <a:spcAft>
                <a:spcPts val="10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Markdown sync on startup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194560"/>
            <a:ext cx="5029200" cy="411480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2286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D4AA"/>
                </a:solidFill>
                <a:latin typeface="Calibri"/>
              </a:defRPr>
            </a:pPr>
            <a:r>
              <a:t>SQLite + FTS5 (v2)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74320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Reflexions: post-task self-assessments</a:t>
            </a:r>
          </a:p>
          <a:p>
            <a:pPr>
              <a:spcAft>
                <a:spcPts val="10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Decisions: with rationale + alternatives</a:t>
            </a:r>
          </a:p>
          <a:p>
            <a:pPr>
              <a:spcAft>
                <a:spcPts val="10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Strategy Lessons: per project type</a:t>
            </a:r>
          </a:p>
          <a:p>
            <a:pPr>
              <a:spcAft>
                <a:spcPts val="10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Calibration: prediction accuracy tracking</a:t>
            </a:r>
          </a:p>
          <a:p>
            <a:pPr>
              <a:spcAft>
                <a:spcPts val="10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FTS5 Index: ranked search across ALL content</a:t>
            </a:r>
          </a:p>
          <a:p>
            <a:pPr>
              <a:spcAft>
                <a:spcPts val="10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Porter stemming + Unicode tokenizer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64008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99999"/>
                </a:solidFill>
                <a:latin typeface="Calibri"/>
              </a:defRPr>
            </a:pPr>
            <a:r>
              <a:t>13 MCP tools: context · search · reflect · decide · pattern · consolidate · stats · add entity/relation/insight · remove · graph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Calibri"/>
              </a:defRPr>
            </a:pPr>
            <a:r>
              <a:t>MULTI-AGENT ORCHESTRATION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Specialized roles with constrained access.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737360"/>
            <a:ext cx="27432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945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Code Mapper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21945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76"/>
                </a:solidFill>
                <a:latin typeface="Calibri"/>
              </a:defRPr>
            </a:pPr>
            <a:r>
              <a:t>Read-only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0" y="219456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Lightweight structural map of the codebase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880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Explorer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8803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76"/>
                </a:solidFill>
                <a:latin typeface="Calibri"/>
              </a:defRPr>
            </a:pPr>
            <a:r>
              <a:t>Read-only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288036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Deep execution path tracing, hidden dependencies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566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Architect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3566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76"/>
                </a:solidFill>
                <a:latin typeface="Calibri"/>
              </a:defRPr>
            </a:pPr>
            <a:r>
              <a:t>Read-only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356616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Implementation blueprints, component 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251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Code Writer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42519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Calibri"/>
              </a:defRPr>
            </a:pPr>
            <a:r>
              <a:t>Write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425196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Implements code following the plan — nothing else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9377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Builder/Tester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49377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Calibri"/>
              </a:defRPr>
            </a:pPr>
            <a:r>
              <a:t>Write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93776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Builds, writes tests, runs tests, absorbs noise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6235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Reviewer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56235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76"/>
                </a:solidFill>
                <a:latin typeface="Calibri"/>
              </a:defRPr>
            </a:pPr>
            <a:r>
              <a:t>Read-only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562356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Independent review with confidence filtering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5669280"/>
            <a:ext cx="10332720" cy="731520"/>
          </a:xfrm>
          <a:prstGeom prst="roundRect">
            <a:avLst/>
          </a:prstGeom>
          <a:solidFill>
            <a:srgbClr val="1A1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88720" y="5760720"/>
            <a:ext cx="9784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CCCCCC"/>
                </a:solidFill>
                <a:latin typeface="Calibri"/>
              </a:defRPr>
            </a:pPr>
            <a:r>
              <a:t>Reviewer cannot edit files. Code Writer doesn't run tests.</a:t>
            </a:r>
            <a:br/>
            <a:r>
              <a:t>Separation of concerns at the agent level.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Calibri"/>
              </a:defRPr>
            </a:pPr>
            <a:r>
              <a:t>AUTOMATED HOOKS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Six lifecycle hooks. Zero manual steps.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737360"/>
            <a:ext cx="27432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945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4AA"/>
                </a:solidFill>
                <a:latin typeface="Calibri"/>
              </a:defRPr>
            </a:pPr>
            <a:r>
              <a:t>Session Start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21945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New session begins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1945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Injects memory, task state, reflexion tools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83463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4AA"/>
                </a:solidFill>
                <a:latin typeface="Calibri"/>
              </a:defRPr>
            </a:pPr>
            <a:r>
              <a:t>Skill Router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83463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Every user prompt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83463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Auto-routes to the correct skill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474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4AA"/>
                </a:solidFill>
                <a:latin typeface="Calibri"/>
              </a:defRPr>
            </a:pPr>
            <a:r>
              <a:t>Pre-Compress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3474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Before compaction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474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Saves state before context is lost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114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4AA"/>
                </a:solidFill>
                <a:latin typeface="Calibri"/>
              </a:defRPr>
            </a:pPr>
            <a:r>
              <a:t>Post-Compact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4114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After compaction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114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Re-injects task journal and rules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75487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Calibri"/>
              </a:defRPr>
            </a:pPr>
            <a:r>
              <a:t>Stop 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475487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Agent tries to finish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75487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BLOCKS until review cycle is complete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394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4AA"/>
                </a:solidFill>
                <a:latin typeface="Calibri"/>
              </a:defRPr>
            </a:pPr>
            <a:r>
              <a:t>Session 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53949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Session closes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3949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Prompts for reflexion + memory capture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5760720"/>
            <a:ext cx="10332720" cy="640080"/>
          </a:xfrm>
          <a:prstGeom prst="roundRect">
            <a:avLst/>
          </a:prstGeom>
          <a:solidFill>
            <a:srgbClr val="3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88720" y="5806440"/>
            <a:ext cx="9784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Calibri"/>
              </a:defRPr>
            </a:pPr>
            <a:r>
              <a:t>The stop-review hook is structural enforcement — the agent physically cannot finish without review.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Calibri"/>
              </a:defRPr>
            </a:pPr>
            <a:r>
              <a:t>WHAT MAKES THIS DIFFERENT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Compared to other frameworks.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737360"/>
            <a:ext cx="27432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945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Others: Skills as suggestions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1945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76"/>
                </a:solidFill>
                <a:latin typeface="Calibri"/>
              </a:defRPr>
            </a:pPr>
            <a:r>
              <a:t>Ours: Skills as mandatory enforcement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81635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Others: Memory as chat history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81635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76"/>
                </a:solidFill>
                <a:latin typeface="Calibri"/>
              </a:defRPr>
            </a:pPr>
            <a:r>
              <a:t>Ours: Queryable knowledge graph + FTS5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438144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Others: One-shot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438144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76"/>
                </a:solidFill>
                <a:latin typeface="Calibri"/>
              </a:defRPr>
            </a:pPr>
            <a:r>
              <a:t>Ours: Autonomous loop, max 5 rounds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059935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Others: Generic patterns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059935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76"/>
                </a:solidFill>
                <a:latin typeface="Calibri"/>
              </a:defRPr>
            </a:pPr>
            <a:r>
              <a:t>Ours: YOUR project's patterns, learned over 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68172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Others: Reactive only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68172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76"/>
                </a:solidFill>
                <a:latin typeface="Calibri"/>
              </a:defRPr>
            </a:pPr>
            <a:r>
              <a:t>Ours: Self-improving via reflexion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3035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Others: Single platform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53035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76"/>
                </a:solidFill>
                <a:latin typeface="Calibri"/>
              </a:defRPr>
            </a:pPr>
            <a:r>
              <a:t>Ours: Claude + Codex + Gemini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92531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Others: Import from marketplace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92531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76"/>
                </a:solidFill>
                <a:latin typeface="Calibri"/>
              </a:defRPr>
            </a:pPr>
            <a:r>
              <a:t>Ours: 100% built in-house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Calibri"/>
              </a:defRPr>
            </a:pPr>
            <a:r>
              <a:t>BY THE NUMBERS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88720"/>
            <a:ext cx="27432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00D4AA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651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CCCCC"/>
                </a:solidFill>
                <a:latin typeface="Calibri"/>
              </a:defRPr>
            </a:pPr>
            <a:r>
              <a:t>Skills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6459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00D4AA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2651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CCCCC"/>
                </a:solidFill>
                <a:latin typeface="Calibri"/>
              </a:defRPr>
            </a:pPr>
            <a:r>
              <a:t>MCP Tools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459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00D4AA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2651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CCCCC"/>
                </a:solidFill>
                <a:latin typeface="Calibri"/>
              </a:defRPr>
            </a:pPr>
            <a:r>
              <a:t>Lifecycle Hooks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9319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00D4AA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937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CCCCC"/>
                </a:solidFill>
                <a:latin typeface="Calibri"/>
              </a:defRPr>
            </a:pPr>
            <a:r>
              <a:t>Specialized Agents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39319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00D4AA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4937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CCCCC"/>
                </a:solidFill>
                <a:latin typeface="Calibri"/>
              </a:defRPr>
            </a:pPr>
            <a:r>
              <a:t>Diagram Types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39319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00D4AA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4937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CCCCC"/>
                </a:solidFill>
                <a:latin typeface="Calibri"/>
              </a:defRPr>
            </a:pPr>
            <a:r>
              <a:t>Doc Modes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9436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9999"/>
                </a:solidFill>
                <a:latin typeface="Calibri"/>
              </a:defRPr>
            </a:pPr>
            <a:r>
              <a:t>91 tests passing  ·  1 external dependency  ·  0 marketplace imports  ·  3 platforms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D4AA"/>
                </a:solidFill>
                <a:latin typeface="Calibri"/>
              </a:defRPr>
            </a:pPr>
            <a:r>
              <a:t>ASSISTANT FRAMEWORK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2926080"/>
            <a:ext cx="210312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Calibri"/>
              </a:defRPr>
            </a:pPr>
            <a:r>
              <a:t>Your AI.  Your workflow.  Your memory.</a:t>
            </a:r>
            <a:br/>
            <a:br/>
            <a:r>
              <a:t>It learns.  It improves.  It never forgets.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035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9999"/>
                </a:solidFill>
                <a:latin typeface="Calibri"/>
              </a:defRPr>
            </a:pPr>
            <a:r>
              <a:t>git clone &lt;repo&gt; &amp;&amp; ./install.sh --agent claude</a:t>
            </a:r>
            <a:br/>
            <a:br/>
            <a:r>
              <a:t>That's it. Skills auto-trigger. Hooks auto-fire. Memory accumulates.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